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5" r:id="rId1"/>
  </p:sldMasterIdLst>
  <p:notesMasterIdLst>
    <p:notesMasterId r:id="rId17"/>
  </p:notesMasterIdLst>
  <p:sldIdLst>
    <p:sldId id="256" r:id="rId2"/>
    <p:sldId id="257" r:id="rId3"/>
    <p:sldId id="258" r:id="rId4"/>
    <p:sldId id="264" r:id="rId5"/>
    <p:sldId id="260" r:id="rId6"/>
    <p:sldId id="263" r:id="rId7"/>
    <p:sldId id="265" r:id="rId8"/>
    <p:sldId id="266" r:id="rId9"/>
    <p:sldId id="261" r:id="rId10"/>
    <p:sldId id="267" r:id="rId11"/>
    <p:sldId id="268" r:id="rId12"/>
    <p:sldId id="269" r:id="rId13"/>
    <p:sldId id="270" r:id="rId14"/>
    <p:sldId id="271" r:id="rId15"/>
    <p:sldId id="262" r:id="rId16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18"/>
      <p:bold r:id="rId19"/>
      <p:italic r:id="rId20"/>
      <p:boldItalic r:id="rId21"/>
    </p:embeddedFont>
    <p:embeddedFont>
      <p:font typeface="Sitka Banner" pitchFamily="2" charset="0"/>
      <p:regular r:id="rId22"/>
      <p:bold r:id="rId23"/>
      <p:italic r:id="rId24"/>
      <p:boldItalic r:id="rId25"/>
    </p:embeddedFont>
    <p:embeddedFont>
      <p:font typeface="Trebuchet MS" panose="020B0603020202020204" pitchFamily="34" charset="0"/>
      <p:regular r:id="rId26"/>
      <p:bold r:id="rId27"/>
      <p:italic r:id="rId28"/>
      <p:boldItalic r:id="rId29"/>
    </p:embeddedFont>
    <p:embeddedFont>
      <p:font typeface="Wingdings 3" panose="05040102010807070707" pitchFamily="18" charset="2"/>
      <p:regular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gwOfiCrB5bClRqDBwDhrh7cxV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AA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6" name="Google Shape;15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5" name="Google Shape;1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2" name="Google Shape;2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5497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0" name="Google Shape;22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0510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148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8135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6" name="Google Shape;2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6" name="Google Shape;2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1282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6" name="Google Shape;2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9676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6" name="Google Shape;2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6332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6" name="Google Shape;2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202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6" name="Google Shape;2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7725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3" name="Google Shape;2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2295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2317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80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6135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7519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06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485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227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892701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70776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50959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45542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192344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969947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5905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845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35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"/>
          <p:cNvSpPr txBox="1">
            <a:spLocks noGrp="1"/>
          </p:cNvSpPr>
          <p:nvPr>
            <p:ph type="ctrTitle"/>
          </p:nvPr>
        </p:nvSpPr>
        <p:spPr>
          <a:xfrm>
            <a:off x="690011" y="2835921"/>
            <a:ext cx="6828522" cy="1387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algn="ctr">
              <a:spcBef>
                <a:spcPts val="0"/>
              </a:spcBef>
              <a:buClr>
                <a:srgbClr val="FFC000"/>
              </a:buClr>
              <a:buSzPts val="2160"/>
            </a:pPr>
            <a:br>
              <a:rPr lang="es-ES" sz="2160" b="1" dirty="0">
                <a:solidFill>
                  <a:srgbClr val="FFC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s-ES" sz="2160" b="1" dirty="0">
                <a:solidFill>
                  <a:srgbClr val="FFC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 </a:t>
            </a:r>
            <a:r>
              <a:rPr lang="es-PE" sz="2000" b="1" dirty="0">
                <a:solidFill>
                  <a:srgbClr val="002060"/>
                </a:solidFill>
                <a:latin typeface="Arial Narrow"/>
                <a:ea typeface="Arial Narrow"/>
                <a:cs typeface="Arial Narrow"/>
              </a:rPr>
              <a:t>MODELAMIENTO DE LA DISTRIBUCIÓN ESPACIO-TEMPORAL DEL JUREL (TRACHURUS MURPHYI) EN EL MAR PERUANO MEDIANTE CLASIFICACIÓN XGBOOST Y PSEUDOAUSENCIAS ESTRUCTURADAS, 2011–2023</a:t>
            </a:r>
            <a:br>
              <a:rPr lang="es-PE" sz="2000" b="1" dirty="0">
                <a:solidFill>
                  <a:srgbClr val="002060"/>
                </a:solidFill>
                <a:latin typeface="Arial Narrow"/>
                <a:ea typeface="Arial Narrow"/>
                <a:cs typeface="Arial Narrow"/>
              </a:rPr>
            </a:br>
            <a:br>
              <a:rPr lang="es-ES" sz="2160" b="1" dirty="0">
                <a:latin typeface="Arial Narrow"/>
                <a:ea typeface="Arial Narrow"/>
                <a:cs typeface="Arial Narrow"/>
                <a:sym typeface="Arial Narrow"/>
              </a:rPr>
            </a:br>
            <a:endParaRPr sz="2160" b="1" u="sng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1"/>
          <p:cNvSpPr txBox="1">
            <a:spLocks noGrp="1"/>
          </p:cNvSpPr>
          <p:nvPr>
            <p:ph type="subTitle" idx="1"/>
          </p:nvPr>
        </p:nvSpPr>
        <p:spPr>
          <a:xfrm>
            <a:off x="1172971" y="3822431"/>
            <a:ext cx="6278887" cy="137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20"/>
              <a:buNone/>
            </a:pPr>
            <a:r>
              <a:rPr lang="es-ES" sz="14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Integrantes:</a:t>
            </a:r>
            <a:endParaRPr dirty="0"/>
          </a:p>
          <a:p>
            <a:pPr algn="ctr"/>
            <a:r>
              <a:rPr lang="es-PE" sz="14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Guanilo </a:t>
            </a:r>
            <a:r>
              <a:rPr lang="es-PE" sz="1400" b="1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Pairazamán</a:t>
            </a:r>
            <a:r>
              <a:rPr lang="es-PE" sz="14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 Ricardo</a:t>
            </a:r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4363" y="289491"/>
            <a:ext cx="1239977" cy="1512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"/>
          <p:cNvSpPr/>
          <p:nvPr/>
        </p:nvSpPr>
        <p:spPr>
          <a:xfrm>
            <a:off x="1328542" y="534487"/>
            <a:ext cx="6782793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i="0" u="none" strike="noStrike" cap="none" dirty="0">
                <a:solidFill>
                  <a:srgbClr val="990033"/>
                </a:solidFill>
                <a:latin typeface="Arial Narrow"/>
                <a:ea typeface="Arial Narrow"/>
                <a:cs typeface="Arial Narrow"/>
                <a:sym typeface="Arial Narrow"/>
              </a:rPr>
              <a:t>UNIVERSIDAD NACIONAL DE INGENIERÍA</a:t>
            </a:r>
            <a:endParaRPr sz="2400" b="1" i="0" u="none" strike="noStrike" cap="none" dirty="0">
              <a:solidFill>
                <a:srgbClr val="990033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Facultad de Ingeniería Económica, Estadística  y Ciencias Sociales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dirty="0"/>
          </a:p>
          <a:p>
            <a:pPr algn="ctr"/>
            <a:br>
              <a:rPr lang="es-ES" sz="16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s-ES" sz="1600" b="1" i="0" u="none" strike="noStrike" cap="none" dirty="0">
                <a:solidFill>
                  <a:srgbClr val="990033"/>
                </a:solidFill>
                <a:latin typeface="Arial Narrow"/>
                <a:ea typeface="Arial Narrow"/>
                <a:cs typeface="Arial Narrow"/>
                <a:sym typeface="Arial Narrow"/>
              </a:rPr>
              <a:t>Escuela Profesional de Ingeniería </a:t>
            </a:r>
            <a:r>
              <a:rPr lang="es-ES" sz="1600" b="1" dirty="0">
                <a:solidFill>
                  <a:srgbClr val="990033"/>
                </a:solidFill>
                <a:latin typeface="Arial Narrow"/>
                <a:ea typeface="Arial Narrow"/>
                <a:cs typeface="Arial Narrow"/>
                <a:sym typeface="Arial Narrow"/>
              </a:rPr>
              <a:t>Estadística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990033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2"/>
          <p:cNvGrpSpPr/>
          <p:nvPr/>
        </p:nvGrpSpPr>
        <p:grpSpPr>
          <a:xfrm>
            <a:off x="1094858" y="1776561"/>
            <a:ext cx="7098299" cy="4344540"/>
            <a:chOff x="-20758" y="3745"/>
            <a:chExt cx="7098299" cy="4344540"/>
          </a:xfrm>
        </p:grpSpPr>
        <p:sp>
          <p:nvSpPr>
            <p:cNvPr id="161" name="Google Shape;161;p2"/>
            <p:cNvSpPr/>
            <p:nvPr/>
          </p:nvSpPr>
          <p:spPr>
            <a:xfrm rot="5400000">
              <a:off x="-123814" y="106801"/>
              <a:ext cx="963814" cy="757702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746F6F"/>
                </a:gs>
                <a:gs pos="78000">
                  <a:srgbClr val="5F5B5B"/>
                </a:gs>
                <a:gs pos="100000">
                  <a:srgbClr val="5F5B5B"/>
                </a:gs>
              </a:gsLst>
              <a:lin ang="5400000" scaled="0"/>
            </a:gra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 txBox="1"/>
            <p:nvPr/>
          </p:nvSpPr>
          <p:spPr>
            <a:xfrm>
              <a:off x="-20758" y="382596"/>
              <a:ext cx="757702" cy="206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75" tIns="17775" rIns="17775" bIns="17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 rot="5400000">
              <a:off x="3573080" y="-2873906"/>
              <a:ext cx="626809" cy="6382113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2">
                <a:alpha val="89803"/>
              </a:schemeClr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 txBox="1"/>
            <p:nvPr/>
          </p:nvSpPr>
          <p:spPr>
            <a:xfrm>
              <a:off x="695428" y="34344"/>
              <a:ext cx="6351515" cy="565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9125" tIns="17775" rIns="17775" bIns="17775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Char char="•"/>
              </a:pPr>
              <a:r>
                <a:rPr lang="es-ES" sz="2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INTRODUCCIÓN</a:t>
              </a:r>
              <a:endParaRPr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"/>
            <p:cNvSpPr/>
            <p:nvPr/>
          </p:nvSpPr>
          <p:spPr>
            <a:xfrm rot="5400000">
              <a:off x="-123814" y="951983"/>
              <a:ext cx="963814" cy="757702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746F6F"/>
                </a:gs>
                <a:gs pos="78000">
                  <a:srgbClr val="5F5B5B"/>
                </a:gs>
                <a:gs pos="100000">
                  <a:srgbClr val="5F5B5B"/>
                </a:gs>
              </a:gsLst>
              <a:lin ang="5400000" scaled="0"/>
            </a:gra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 txBox="1"/>
            <p:nvPr/>
          </p:nvSpPr>
          <p:spPr>
            <a:xfrm>
              <a:off x="-20758" y="1227778"/>
              <a:ext cx="757702" cy="206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75" tIns="17775" rIns="17775" bIns="17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 rot="5400000">
              <a:off x="3573245" y="-2028889"/>
              <a:ext cx="626479" cy="6382113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2">
                <a:alpha val="89803"/>
              </a:schemeClr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 txBox="1"/>
            <p:nvPr/>
          </p:nvSpPr>
          <p:spPr>
            <a:xfrm>
              <a:off x="695428" y="879510"/>
              <a:ext cx="6351531" cy="565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9125" tIns="17775" rIns="17775" bIns="17775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Char char="•"/>
              </a:pPr>
              <a:r>
                <a:rPr lang="es-ES"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OBJETIVOS</a:t>
              </a:r>
              <a:endPara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 rot="5400000">
              <a:off x="-123814" y="1797164"/>
              <a:ext cx="963814" cy="757702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746F6F"/>
                </a:gs>
                <a:gs pos="78000">
                  <a:srgbClr val="5F5B5B"/>
                </a:gs>
                <a:gs pos="100000">
                  <a:srgbClr val="5F5B5B"/>
                </a:gs>
              </a:gsLst>
              <a:lin ang="5400000" scaled="0"/>
            </a:gra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 txBox="1"/>
            <p:nvPr/>
          </p:nvSpPr>
          <p:spPr>
            <a:xfrm>
              <a:off x="-20758" y="2072959"/>
              <a:ext cx="757702" cy="206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75" tIns="17775" rIns="17775" bIns="17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 rot="5400000">
              <a:off x="3573245" y="-1183708"/>
              <a:ext cx="626479" cy="6382113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2">
                <a:alpha val="89803"/>
              </a:schemeClr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 txBox="1"/>
            <p:nvPr/>
          </p:nvSpPr>
          <p:spPr>
            <a:xfrm>
              <a:off x="695428" y="1724691"/>
              <a:ext cx="6351531" cy="565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9125" tIns="17775" rIns="17775" bIns="17775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Char char="•"/>
              </a:pPr>
              <a:r>
                <a:rPr lang="es-ES" sz="2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METODOLOGÍA</a:t>
              </a:r>
              <a:endParaRPr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 rot="5400000">
              <a:off x="-123814" y="2642346"/>
              <a:ext cx="963814" cy="757702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746F6F"/>
                </a:gs>
                <a:gs pos="78000">
                  <a:srgbClr val="5F5B5B"/>
                </a:gs>
                <a:gs pos="100000">
                  <a:srgbClr val="5F5B5B"/>
                </a:gs>
              </a:gsLst>
              <a:lin ang="5400000" scaled="0"/>
            </a:gra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 txBox="1"/>
            <p:nvPr/>
          </p:nvSpPr>
          <p:spPr>
            <a:xfrm>
              <a:off x="-20758" y="2918141"/>
              <a:ext cx="757702" cy="206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75" tIns="17775" rIns="17775" bIns="17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 rot="5400000">
              <a:off x="3573245" y="-338526"/>
              <a:ext cx="626479" cy="6382113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2">
                <a:alpha val="89803"/>
              </a:schemeClr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 txBox="1"/>
            <p:nvPr/>
          </p:nvSpPr>
          <p:spPr>
            <a:xfrm>
              <a:off x="695428" y="2569873"/>
              <a:ext cx="6351531" cy="565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9125" tIns="17775" rIns="17775" bIns="17775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Char char="•"/>
              </a:pPr>
              <a:r>
                <a:rPr lang="es-ES" sz="2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RESULTADOS</a:t>
              </a:r>
              <a:endParaRPr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 rot="5400000">
              <a:off x="-165330" y="3529043"/>
              <a:ext cx="963814" cy="67467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746F6F"/>
                </a:gs>
                <a:gs pos="78000">
                  <a:srgbClr val="5F5B5B"/>
                </a:gs>
                <a:gs pos="100000">
                  <a:srgbClr val="5F5B5B"/>
                </a:gs>
              </a:gsLst>
              <a:lin ang="5400000" scaled="0"/>
            </a:gra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 txBox="1"/>
            <p:nvPr/>
          </p:nvSpPr>
          <p:spPr>
            <a:xfrm>
              <a:off x="-20758" y="3721806"/>
              <a:ext cx="674670" cy="289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75" tIns="17775" rIns="17775" bIns="17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 rot="5400000">
              <a:off x="3531729" y="506654"/>
              <a:ext cx="626479" cy="6382113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2">
                <a:alpha val="89803"/>
              </a:schemeClr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 txBox="1"/>
            <p:nvPr/>
          </p:nvSpPr>
          <p:spPr>
            <a:xfrm>
              <a:off x="653912" y="3415053"/>
              <a:ext cx="6351531" cy="565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9125" tIns="17775" rIns="17775" bIns="17775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Char char="•"/>
              </a:pPr>
              <a:r>
                <a:rPr lang="es-ES"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CONCLUSIONES</a:t>
              </a:r>
              <a:endPara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1" name="Google Shape;181;p2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-20432"/>
            <a:ext cx="9144000" cy="1295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"/>
          <p:cNvSpPr txBox="1">
            <a:spLocks noGrp="1"/>
          </p:cNvSpPr>
          <p:nvPr>
            <p:ph type="title"/>
          </p:nvPr>
        </p:nvSpPr>
        <p:spPr>
          <a:xfrm>
            <a:off x="468313" y="215900"/>
            <a:ext cx="8229600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s-ES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CONTENIDO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57333" y="215783"/>
            <a:ext cx="9086667" cy="165752"/>
          </a:xfrm>
          <a:prstGeom prst="rect">
            <a:avLst/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54406" y="66731"/>
            <a:ext cx="9086667" cy="165752"/>
          </a:xfrm>
          <a:prstGeom prst="rect">
            <a:avLst/>
          </a:prstGeom>
        </p:spPr>
      </p:pic>
      <p:pic>
        <p:nvPicPr>
          <p:cNvPr id="30" name="Imagen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57333" y="-29807"/>
            <a:ext cx="9086667" cy="165752"/>
          </a:xfrm>
          <a:prstGeom prst="rect">
            <a:avLst/>
          </a:prstGeom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07975" y="573365"/>
            <a:ext cx="8836025" cy="161180"/>
          </a:xfrm>
          <a:prstGeom prst="rect">
            <a:avLst/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12668" y="436981"/>
            <a:ext cx="8828406" cy="161041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07976" y="293384"/>
            <a:ext cx="8833098" cy="161127"/>
          </a:xfrm>
          <a:prstGeom prst="rect">
            <a:avLst/>
          </a:prstGeom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57333" y="704866"/>
            <a:ext cx="9086667" cy="165752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-2928" y="858981"/>
            <a:ext cx="9144001" cy="16575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58982"/>
            <a:ext cx="9141075" cy="5796612"/>
          </a:xfrm>
          <a:prstGeom prst="rect">
            <a:avLst/>
          </a:prstGeom>
        </p:spPr>
      </p:pic>
      <p:pic>
        <p:nvPicPr>
          <p:cNvPr id="188" name="Google Shape;188;p3"/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3"/>
          <p:cNvGrpSpPr/>
          <p:nvPr/>
        </p:nvGrpSpPr>
        <p:grpSpPr>
          <a:xfrm>
            <a:off x="0" y="-1985"/>
            <a:ext cx="9141074" cy="1126728"/>
            <a:chOff x="0" y="-1"/>
            <a:chExt cx="9141074" cy="1126728"/>
          </a:xfrm>
          <a:solidFill>
            <a:schemeClr val="accent2"/>
          </a:solidFill>
        </p:grpSpPr>
        <p:sp>
          <p:nvSpPr>
            <p:cNvPr id="190" name="Google Shape;190;p3"/>
            <p:cNvSpPr/>
            <p:nvPr/>
          </p:nvSpPr>
          <p:spPr>
            <a:xfrm>
              <a:off x="0" y="-1"/>
              <a:ext cx="2886694" cy="1126728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s-PE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Introducción</a:t>
              </a:r>
              <a:endParaRPr sz="2000" b="1" dirty="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2504750" y="60901"/>
              <a:ext cx="1924347" cy="1004925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 txBox="1"/>
            <p:nvPr/>
          </p:nvSpPr>
          <p:spPr>
            <a:xfrm>
              <a:off x="3007213" y="60901"/>
              <a:ext cx="919422" cy="100492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4044228" y="60901"/>
              <a:ext cx="1924347" cy="1004925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 txBox="1"/>
            <p:nvPr/>
          </p:nvSpPr>
          <p:spPr>
            <a:xfrm>
              <a:off x="4546691" y="60901"/>
              <a:ext cx="919422" cy="100492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583706" y="60901"/>
              <a:ext cx="1924347" cy="1004925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 txBox="1"/>
            <p:nvPr/>
          </p:nvSpPr>
          <p:spPr>
            <a:xfrm>
              <a:off x="6086169" y="60901"/>
              <a:ext cx="919422" cy="100492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216025" tIns="144000" rIns="72000" bIns="144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7123184" y="60901"/>
              <a:ext cx="2017890" cy="1004925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 txBox="1"/>
            <p:nvPr/>
          </p:nvSpPr>
          <p:spPr>
            <a:xfrm>
              <a:off x="7625647" y="60901"/>
              <a:ext cx="1012965" cy="100492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AutoShape 2" descr="Modelado de distribución del jurel en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3" name="AutoShape 4" descr="Produce refuerza control de pesca de jurel y bonito para proteger recursos  marinos. -hnews | Economía | La Repúblic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9" name="AutoShape 8" descr="Importancia del jurel en la pesc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4" name="Rectángulo 3"/>
          <p:cNvSpPr/>
          <p:nvPr/>
        </p:nvSpPr>
        <p:spPr>
          <a:xfrm>
            <a:off x="120649" y="1223755"/>
            <a:ext cx="3597911" cy="51086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5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jurel y la seguridad alimentaria</a:t>
            </a:r>
          </a:p>
          <a:p>
            <a:pPr algn="just"/>
            <a:r>
              <a:rPr lang="es-MX" sz="15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pescado es pilar nutricional clave según la FAO. En el Perú, el jurel es estratégico para el CHD, pero su naturaleza migratoria y respuesta oceanográfica dificultan la predicción de su distribución.</a:t>
            </a:r>
          </a:p>
          <a:p>
            <a:pPr algn="just"/>
            <a:endParaRPr lang="es-MX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15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Limitación de la información</a:t>
            </a:r>
          </a:p>
          <a:p>
            <a:pPr algn="just"/>
            <a:r>
              <a:rPr lang="es-MX" sz="15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Solo se dispone de registros de captura. Las ausencias son desconocidas y su distribución varía espacio-temporalmente.</a:t>
            </a:r>
          </a:p>
          <a:p>
            <a:pPr algn="just"/>
            <a:endParaRPr lang="es-MX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15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Solución metodológica</a:t>
            </a:r>
          </a:p>
          <a:p>
            <a:pPr algn="just"/>
            <a:r>
              <a:rPr lang="es-MX" sz="15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requiere generar </a:t>
            </a:r>
            <a:r>
              <a:rPr lang="es-MX" sz="15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pseudoausencias</a:t>
            </a:r>
            <a:r>
              <a:rPr lang="es-MX" sz="15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estructuradas para habilitar algoritmos de clasificación y modelar la dinámica espacio-temporal del jurel.</a:t>
            </a:r>
          </a:p>
          <a:p>
            <a:pPr algn="just"/>
            <a:endParaRPr lang="es-MX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15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Justificación</a:t>
            </a:r>
          </a:p>
          <a:p>
            <a:pPr algn="just"/>
            <a:r>
              <a:rPr lang="es-MX" sz="15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 mapas predictivos apoyan decisiones de manejo pesquero sostenible basadas en evidencia.</a:t>
            </a:r>
            <a:endParaRPr lang="es-PE" sz="1500" dirty="0">
              <a:ln>
                <a:solidFill>
                  <a:schemeClr val="tx1"/>
                </a:solidFill>
              </a:ln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" name="Google Shape;206;p4"/>
          <p:cNvGrpSpPr/>
          <p:nvPr/>
        </p:nvGrpSpPr>
        <p:grpSpPr>
          <a:xfrm>
            <a:off x="2339" y="70024"/>
            <a:ext cx="9139321" cy="1126728"/>
            <a:chOff x="2339" y="0"/>
            <a:chExt cx="9139321" cy="1126728"/>
          </a:xfrm>
          <a:solidFill>
            <a:schemeClr val="accent2"/>
          </a:solidFill>
        </p:grpSpPr>
        <p:sp>
          <p:nvSpPr>
            <p:cNvPr id="207" name="Google Shape;207;p4"/>
            <p:cNvSpPr/>
            <p:nvPr/>
          </p:nvSpPr>
          <p:spPr>
            <a:xfrm>
              <a:off x="2339" y="149472"/>
              <a:ext cx="1584270" cy="827782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1456682" y="0"/>
              <a:ext cx="3321946" cy="1126728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4"/>
            <p:cNvSpPr txBox="1"/>
            <p:nvPr/>
          </p:nvSpPr>
          <p:spPr>
            <a:xfrm>
              <a:off x="2020046" y="0"/>
              <a:ext cx="2195218" cy="112672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80000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Objetivos</a:t>
              </a:r>
              <a:endParaRPr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4648702" y="149472"/>
              <a:ext cx="1584270" cy="827782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4"/>
            <p:cNvSpPr txBox="1"/>
            <p:nvPr/>
          </p:nvSpPr>
          <p:spPr>
            <a:xfrm>
              <a:off x="5062593" y="149472"/>
              <a:ext cx="756488" cy="82778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6103046" y="149472"/>
              <a:ext cx="1584270" cy="827782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4"/>
            <p:cNvSpPr txBox="1"/>
            <p:nvPr/>
          </p:nvSpPr>
          <p:spPr>
            <a:xfrm>
              <a:off x="6516937" y="149472"/>
              <a:ext cx="756488" cy="82778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76000" tIns="117325" rIns="58650" bIns="117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7557390" y="149472"/>
              <a:ext cx="1584270" cy="827782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4"/>
            <p:cNvSpPr txBox="1"/>
            <p:nvPr/>
          </p:nvSpPr>
          <p:spPr>
            <a:xfrm>
              <a:off x="7971281" y="149472"/>
              <a:ext cx="756488" cy="82778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Shape 3"/>
          <p:cNvSpPr/>
          <p:nvPr/>
        </p:nvSpPr>
        <p:spPr>
          <a:xfrm>
            <a:off x="294120" y="1881565"/>
            <a:ext cx="6979305" cy="1130434"/>
          </a:xfrm>
          <a:prstGeom prst="roundRect">
            <a:avLst>
              <a:gd name="adj" fmla="val 69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4"/>
          <p:cNvSpPr/>
          <p:nvPr/>
        </p:nvSpPr>
        <p:spPr>
          <a:xfrm>
            <a:off x="344459" y="14749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GENERAL</a:t>
            </a:r>
          </a:p>
        </p:txBody>
      </p:sp>
      <p:sp>
        <p:nvSpPr>
          <p:cNvPr id="17" name="Text 5"/>
          <p:cNvSpPr/>
          <p:nvPr/>
        </p:nvSpPr>
        <p:spPr>
          <a:xfrm>
            <a:off x="472666" y="2138512"/>
            <a:ext cx="67472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s-PE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Modelar la dinámica espacio-temporal del jurel en el litoral peruano, integrando de manera simultánea variables oceanográficas espaciales para predecir su distribución y probabilidad de presencia a través de un enfoque de clasificación algorítmica basado en XGBoost y pseudoausencias.</a:t>
            </a:r>
          </a:p>
        </p:txBody>
      </p:sp>
      <p:sp>
        <p:nvSpPr>
          <p:cNvPr id="18" name="Text 6"/>
          <p:cNvSpPr/>
          <p:nvPr/>
        </p:nvSpPr>
        <p:spPr>
          <a:xfrm>
            <a:off x="281583" y="32446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  <a:r>
              <a:rPr lang="en-US" b="1" kern="0" spc="2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ESPECÍFICOS</a:t>
            </a:r>
          </a:p>
        </p:txBody>
      </p:sp>
      <p:sp>
        <p:nvSpPr>
          <p:cNvPr id="19" name="Shape 7"/>
          <p:cNvSpPr/>
          <p:nvPr/>
        </p:nvSpPr>
        <p:spPr>
          <a:xfrm>
            <a:off x="281583" y="3624763"/>
            <a:ext cx="3469871" cy="1098435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11"/>
          <p:cNvSpPr/>
          <p:nvPr/>
        </p:nvSpPr>
        <p:spPr>
          <a:xfrm>
            <a:off x="409790" y="3801927"/>
            <a:ext cx="3376301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Generar pseudoausencias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espacio-temporalmente</a:t>
            </a:r>
            <a:r>
              <a:rPr lang="en-US" sz="15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estructuradas a partir de datos de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solo</a:t>
            </a:r>
            <a:r>
              <a:rPr lang="en-US" sz="15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presencia.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2"/>
          <p:cNvSpPr/>
          <p:nvPr/>
        </p:nvSpPr>
        <p:spPr>
          <a:xfrm>
            <a:off x="3908008" y="3624763"/>
            <a:ext cx="3365415" cy="1097827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16"/>
          <p:cNvSpPr/>
          <p:nvPr/>
        </p:nvSpPr>
        <p:spPr>
          <a:xfrm>
            <a:off x="4025774" y="3801927"/>
            <a:ext cx="3194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Cuantificar el efecto e importancia de variables oceanográficas (TSM, salinidad, capa de mezcla).</a:t>
            </a:r>
          </a:p>
        </p:txBody>
      </p:sp>
      <p:sp>
        <p:nvSpPr>
          <p:cNvPr id="34" name="Shape 12"/>
          <p:cNvSpPr/>
          <p:nvPr/>
        </p:nvSpPr>
        <p:spPr>
          <a:xfrm>
            <a:off x="294119" y="4839501"/>
            <a:ext cx="6979305" cy="486425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21"/>
          <p:cNvSpPr/>
          <p:nvPr/>
        </p:nvSpPr>
        <p:spPr>
          <a:xfrm>
            <a:off x="711446" y="4716327"/>
            <a:ext cx="66286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Construir mapas predictivos espacio-temporales de idoneidad de hábitat</a:t>
            </a:r>
            <a:r>
              <a:rPr lang="en-US" sz="11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73981679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5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5"/>
          <p:cNvGrpSpPr/>
          <p:nvPr/>
        </p:nvGrpSpPr>
        <p:grpSpPr>
          <a:xfrm>
            <a:off x="4153" y="70024"/>
            <a:ext cx="9135692" cy="1126728"/>
            <a:chOff x="4153" y="0"/>
            <a:chExt cx="9135692" cy="1126728"/>
          </a:xfrm>
          <a:solidFill>
            <a:schemeClr val="accent2"/>
          </a:solidFill>
        </p:grpSpPr>
        <p:sp>
          <p:nvSpPr>
            <p:cNvPr id="224" name="Google Shape;224;p5"/>
            <p:cNvSpPr/>
            <p:nvPr/>
          </p:nvSpPr>
          <p:spPr>
            <a:xfrm>
              <a:off x="4153" y="133818"/>
              <a:ext cx="1649063" cy="859091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5"/>
            <p:cNvSpPr txBox="1"/>
            <p:nvPr/>
          </p:nvSpPr>
          <p:spPr>
            <a:xfrm>
              <a:off x="4153" y="133818"/>
              <a:ext cx="1434290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06675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1457880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 txBox="1"/>
            <p:nvPr/>
          </p:nvSpPr>
          <p:spPr>
            <a:xfrm>
              <a:off x="1887426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2911606" y="0"/>
              <a:ext cx="3320786" cy="1126728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 txBox="1"/>
            <p:nvPr/>
          </p:nvSpPr>
          <p:spPr>
            <a:xfrm>
              <a:off x="3474970" y="0"/>
              <a:ext cx="2194058" cy="112672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80000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Metodología</a:t>
              </a:r>
              <a:endParaRPr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6037056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5"/>
            <p:cNvSpPr txBox="1"/>
            <p:nvPr/>
          </p:nvSpPr>
          <p:spPr>
            <a:xfrm>
              <a:off x="6466602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7490782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5"/>
            <p:cNvSpPr txBox="1"/>
            <p:nvPr/>
          </p:nvSpPr>
          <p:spPr>
            <a:xfrm>
              <a:off x="7920328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CF68C88-9AA8-416A-A186-D4C0F399B87A}"/>
              </a:ext>
            </a:extLst>
          </p:cNvPr>
          <p:cNvSpPr/>
          <p:nvPr/>
        </p:nvSpPr>
        <p:spPr>
          <a:xfrm>
            <a:off x="641000" y="2102953"/>
            <a:ext cx="1842355" cy="12124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altLang="es-PE" sz="1400" dirty="0">
                <a:latin typeface="Sitka Banner" pitchFamily="2" charset="0"/>
                <a:cs typeface="Times New Roman" panose="02020603050405020304" pitchFamily="18" charset="0"/>
              </a:rPr>
              <a:t>Registros pesqueros georreferenciados de captura de jurel (IHMA) 2011–2023 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C48C31D4-C898-44BE-8777-F46BD7A9E6C9}"/>
              </a:ext>
            </a:extLst>
          </p:cNvPr>
          <p:cNvSpPr/>
          <p:nvPr/>
        </p:nvSpPr>
        <p:spPr>
          <a:xfrm>
            <a:off x="2966157" y="2102952"/>
            <a:ext cx="1842355" cy="121249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altLang="es-PE" sz="1400" dirty="0">
                <a:latin typeface="Sitka Banner" pitchFamily="2" charset="0"/>
                <a:cs typeface="Times New Roman" panose="02020603050405020304" pitchFamily="18" charset="0"/>
              </a:rPr>
              <a:t>Variables oceanográficas satelitales en grilla 1/12°: TSM, Salinidad, etc.</a:t>
            </a:r>
            <a:endParaRPr lang="es-PE" dirty="0">
              <a:latin typeface="Sitka Banner" pitchFamily="2" charset="0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565638A7-0A69-49FB-B90B-F82B55D7119B}"/>
              </a:ext>
            </a:extLst>
          </p:cNvPr>
          <p:cNvSpPr/>
          <p:nvPr/>
        </p:nvSpPr>
        <p:spPr>
          <a:xfrm>
            <a:off x="5256666" y="2102952"/>
            <a:ext cx="1777166" cy="121249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altLang="es-PE" sz="1400" dirty="0">
                <a:latin typeface="Sitka Banner" pitchFamily="2" charset="0"/>
                <a:cs typeface="Times New Roman" panose="02020603050405020304" pitchFamily="18" charset="0"/>
              </a:rPr>
              <a:t>Serie mensual NOAA para el </a:t>
            </a:r>
            <a:r>
              <a:rPr lang="es-PE" altLang="es-PE" sz="1400">
                <a:latin typeface="Sitka Banner" pitchFamily="2" charset="0"/>
                <a:cs typeface="Times New Roman" panose="02020603050405020304" pitchFamily="18" charset="0"/>
              </a:rPr>
              <a:t>Índice Climático </a:t>
            </a:r>
            <a:r>
              <a:rPr lang="es-PE" altLang="es-PE" sz="1400" dirty="0">
                <a:latin typeface="Sitka Banner" pitchFamily="2" charset="0"/>
                <a:cs typeface="Times New Roman" panose="02020603050405020304" pitchFamily="18" charset="0"/>
              </a:rPr>
              <a:t>ONI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6E8672C-A8C9-4274-9ADF-2F65F1CEFC67}"/>
              </a:ext>
            </a:extLst>
          </p:cNvPr>
          <p:cNvSpPr txBox="1"/>
          <p:nvPr/>
        </p:nvSpPr>
        <p:spPr>
          <a:xfrm>
            <a:off x="199646" y="1436708"/>
            <a:ext cx="6834186" cy="385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Tx/>
              <a:buNone/>
              <a:tabLst/>
            </a:pPr>
            <a:r>
              <a:rPr lang="es-PE" altLang="es-PE" b="1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1. ORIGEN DE LOS DATOS</a:t>
            </a:r>
            <a:endParaRPr lang="es-PE" alt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igno más 5">
            <a:extLst>
              <a:ext uri="{FF2B5EF4-FFF2-40B4-BE49-F238E27FC236}">
                <a16:creationId xmlns:a16="http://schemas.microsoft.com/office/drawing/2014/main" id="{4182739E-265B-437F-9D11-9DB985D0C7F1}"/>
              </a:ext>
            </a:extLst>
          </p:cNvPr>
          <p:cNvSpPr/>
          <p:nvPr/>
        </p:nvSpPr>
        <p:spPr>
          <a:xfrm>
            <a:off x="2591313" y="2540080"/>
            <a:ext cx="254111" cy="271605"/>
          </a:xfrm>
          <a:prstGeom prst="mathPlus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Signo más 23">
            <a:extLst>
              <a:ext uri="{FF2B5EF4-FFF2-40B4-BE49-F238E27FC236}">
                <a16:creationId xmlns:a16="http://schemas.microsoft.com/office/drawing/2014/main" id="{FF866B2E-7763-441F-98C6-A3B9C70FF9A2}"/>
              </a:ext>
            </a:extLst>
          </p:cNvPr>
          <p:cNvSpPr/>
          <p:nvPr/>
        </p:nvSpPr>
        <p:spPr>
          <a:xfrm>
            <a:off x="4881822" y="2573397"/>
            <a:ext cx="254111" cy="271605"/>
          </a:xfrm>
          <a:prstGeom prst="mathPlus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errar llave 6">
            <a:extLst>
              <a:ext uri="{FF2B5EF4-FFF2-40B4-BE49-F238E27FC236}">
                <a16:creationId xmlns:a16="http://schemas.microsoft.com/office/drawing/2014/main" id="{F673FEF1-3328-46A7-BAC2-6AF8116A197D}"/>
              </a:ext>
            </a:extLst>
          </p:cNvPr>
          <p:cNvSpPr/>
          <p:nvPr/>
        </p:nvSpPr>
        <p:spPr>
          <a:xfrm rot="5400000">
            <a:off x="3679118" y="221473"/>
            <a:ext cx="385043" cy="6629203"/>
          </a:xfrm>
          <a:prstGeom prst="rightBrace">
            <a:avLst>
              <a:gd name="adj1" fmla="val 42966"/>
              <a:gd name="adj2" fmla="val 49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94E177E-817E-450F-9A3F-32CD03BD05C3}"/>
              </a:ext>
            </a:extLst>
          </p:cNvPr>
          <p:cNvSpPr txBox="1"/>
          <p:nvPr/>
        </p:nvSpPr>
        <p:spPr>
          <a:xfrm>
            <a:off x="2966157" y="3690682"/>
            <a:ext cx="2153011" cy="385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Tx/>
              <a:buNone/>
              <a:tabLst/>
            </a:pPr>
            <a:r>
              <a:rPr lang="es-PE" altLang="es-PE" b="1" dirty="0">
                <a:solidFill>
                  <a:schemeClr val="accent1">
                    <a:lumMod val="50000"/>
                  </a:schemeClr>
                </a:solidFill>
                <a:latin typeface="Sitka Banner" pitchFamily="2" charset="0"/>
                <a:cs typeface="Times New Roman" panose="02020603050405020304" pitchFamily="18" charset="0"/>
              </a:rPr>
              <a:t>MUESTRA TOTAL </a:t>
            </a:r>
            <a:endParaRPr lang="es-PE" altLang="es-PE" b="1" dirty="0">
              <a:solidFill>
                <a:schemeClr val="accent1">
                  <a:lumMod val="50000"/>
                </a:schemeClr>
              </a:solidFill>
              <a:latin typeface="Sitka Banner" pitchFamily="2" charset="0"/>
            </a:endParaRPr>
          </a:p>
        </p:txBody>
      </p:sp>
      <p:sp>
        <p:nvSpPr>
          <p:cNvPr id="27" name="Cerrar llave 26">
            <a:extLst>
              <a:ext uri="{FF2B5EF4-FFF2-40B4-BE49-F238E27FC236}">
                <a16:creationId xmlns:a16="http://schemas.microsoft.com/office/drawing/2014/main" id="{84978E11-57DF-42E3-AE0C-665A6DE68B11}"/>
              </a:ext>
            </a:extLst>
          </p:cNvPr>
          <p:cNvSpPr/>
          <p:nvPr/>
        </p:nvSpPr>
        <p:spPr>
          <a:xfrm rot="5400000" flipH="1">
            <a:off x="3632460" y="3309763"/>
            <a:ext cx="521309" cy="3099151"/>
          </a:xfrm>
          <a:prstGeom prst="rightBrace">
            <a:avLst>
              <a:gd name="adj1" fmla="val 0"/>
              <a:gd name="adj2" fmla="val 4674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E47578E6-364F-4002-8F89-AD3FB5A90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2177" y="3987332"/>
            <a:ext cx="5255584" cy="699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21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s-PE" altLang="es-PE" sz="1400" dirty="0">
                <a:latin typeface="Sitka Banner" pitchFamily="2" charset="0"/>
                <a:cs typeface="Times New Roman" panose="02020603050405020304" pitchFamily="18" charset="0"/>
              </a:rPr>
              <a:t>Área: ecosistema pelágico del mar peruano (Corriente de Humboldt)</a:t>
            </a:r>
          </a:p>
          <a:p>
            <a:pPr marL="321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s-PE" altLang="es-PE" sz="1400" dirty="0">
                <a:latin typeface="Sitka Banner" pitchFamily="2" charset="0"/>
                <a:cs typeface="Times New Roman" panose="02020603050405020304" pitchFamily="18" charset="0"/>
              </a:rPr>
              <a:t>Periodo: 156 meses (ene 2011 – dic 2023)</a:t>
            </a:r>
            <a:endParaRPr lang="es-PE" altLang="es-PE" sz="1400" dirty="0">
              <a:latin typeface="Sitka Banner" pitchFamily="2" charset="0"/>
            </a:endParaRP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039EB3D0-010B-4197-9E7A-45ACC78D3677}"/>
              </a:ext>
            </a:extLst>
          </p:cNvPr>
          <p:cNvSpPr/>
          <p:nvPr/>
        </p:nvSpPr>
        <p:spPr>
          <a:xfrm>
            <a:off x="1438443" y="5160862"/>
            <a:ext cx="1842355" cy="52131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altLang="es-PE" sz="1600" b="1" dirty="0">
                <a:latin typeface="Sitka Banner" pitchFamily="2" charset="0"/>
                <a:cs typeface="Times New Roman" panose="02020603050405020304" pitchFamily="18" charset="0"/>
              </a:rPr>
              <a:t>Entrenamiento</a:t>
            </a:r>
          </a:p>
          <a:p>
            <a:pPr algn="ctr"/>
            <a:r>
              <a:rPr lang="es-PE" altLang="es-PE" sz="1600" dirty="0">
                <a:latin typeface="Sitka Banner" pitchFamily="2" charset="0"/>
                <a:cs typeface="Times New Roman" panose="02020603050405020304" pitchFamily="18" charset="0"/>
              </a:rPr>
              <a:t>2011-2019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305D14B4-3E13-4DC2-A0D2-21F86D3C57BD}"/>
              </a:ext>
            </a:extLst>
          </p:cNvPr>
          <p:cNvSpPr/>
          <p:nvPr/>
        </p:nvSpPr>
        <p:spPr>
          <a:xfrm>
            <a:off x="4747850" y="5160862"/>
            <a:ext cx="1842355" cy="52131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altLang="es-PE" sz="1600" b="1" dirty="0">
                <a:latin typeface="Sitka Banner" pitchFamily="2" charset="0"/>
                <a:cs typeface="Times New Roman" panose="02020603050405020304" pitchFamily="18" charset="0"/>
              </a:rPr>
              <a:t>Prueba</a:t>
            </a:r>
          </a:p>
          <a:p>
            <a:pPr algn="ctr"/>
            <a:r>
              <a:rPr lang="es-PE" altLang="es-PE" sz="1600" dirty="0">
                <a:latin typeface="Sitka Banner" pitchFamily="2" charset="0"/>
                <a:cs typeface="Times New Roman" panose="02020603050405020304" pitchFamily="18" charset="0"/>
              </a:rPr>
              <a:t>2011-2019</a:t>
            </a: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B95AB62D-EC2B-4E04-895D-0FBCD6C08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791" y="4768802"/>
            <a:ext cx="1842355" cy="376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00"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PE" altLang="es-PE" sz="1400" i="1" dirty="0">
                <a:latin typeface="Sitka Banner" pitchFamily="2" charset="0"/>
              </a:rPr>
              <a:t>Partición temporal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Imagen 96">
            <a:extLst>
              <a:ext uri="{FF2B5EF4-FFF2-40B4-BE49-F238E27FC236}">
                <a16:creationId xmlns:a16="http://schemas.microsoft.com/office/drawing/2014/main" id="{FA5DD669-3B93-4B1E-B1CB-4C50FB4B95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22"/>
          <a:stretch/>
        </p:blipFill>
        <p:spPr>
          <a:xfrm>
            <a:off x="364463" y="1936603"/>
            <a:ext cx="6299611" cy="3923679"/>
          </a:xfrm>
          <a:prstGeom prst="roundRect">
            <a:avLst>
              <a:gd name="adj" fmla="val 9408"/>
            </a:avLst>
          </a:prstGeom>
        </p:spPr>
      </p:pic>
      <p:pic>
        <p:nvPicPr>
          <p:cNvPr id="222" name="Google Shape;222;p5"/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5"/>
          <p:cNvGrpSpPr/>
          <p:nvPr/>
        </p:nvGrpSpPr>
        <p:grpSpPr>
          <a:xfrm>
            <a:off x="4153" y="70024"/>
            <a:ext cx="9135692" cy="1126728"/>
            <a:chOff x="4153" y="0"/>
            <a:chExt cx="9135692" cy="1126728"/>
          </a:xfrm>
          <a:solidFill>
            <a:schemeClr val="accent2"/>
          </a:solidFill>
        </p:grpSpPr>
        <p:sp>
          <p:nvSpPr>
            <p:cNvPr id="224" name="Google Shape;224;p5"/>
            <p:cNvSpPr/>
            <p:nvPr/>
          </p:nvSpPr>
          <p:spPr>
            <a:xfrm>
              <a:off x="4153" y="133818"/>
              <a:ext cx="1649063" cy="859091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1457880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 txBox="1"/>
            <p:nvPr/>
          </p:nvSpPr>
          <p:spPr>
            <a:xfrm>
              <a:off x="1887426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2911606" y="0"/>
              <a:ext cx="3320786" cy="1126728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 txBox="1"/>
            <p:nvPr/>
          </p:nvSpPr>
          <p:spPr>
            <a:xfrm>
              <a:off x="3474970" y="0"/>
              <a:ext cx="2194058" cy="112672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80000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Metodología</a:t>
              </a:r>
              <a:endParaRPr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6037056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5"/>
            <p:cNvSpPr txBox="1"/>
            <p:nvPr/>
          </p:nvSpPr>
          <p:spPr>
            <a:xfrm>
              <a:off x="6466602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7490782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5"/>
            <p:cNvSpPr txBox="1"/>
            <p:nvPr/>
          </p:nvSpPr>
          <p:spPr>
            <a:xfrm>
              <a:off x="7920328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AutoShape 2" descr="Tabla de variables oceanográficas y tempor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2" name="AutoShape 2" descr="blob:https://web.whatsapp.com/04e424cc-b0e0-44e0-aab3-3e57debc2bf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D64E918-C38C-40FB-A894-3F593D7FB8E0}"/>
              </a:ext>
            </a:extLst>
          </p:cNvPr>
          <p:cNvSpPr/>
          <p:nvPr/>
        </p:nvSpPr>
        <p:spPr>
          <a:xfrm>
            <a:off x="6772423" y="2422235"/>
            <a:ext cx="1906404" cy="214400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/>
              <a:t>Adicionalmente, se tienen los componentes temporales:</a:t>
            </a:r>
          </a:p>
          <a:p>
            <a:pPr algn="ctr"/>
            <a:endParaRPr lang="es-PE" sz="1200" dirty="0"/>
          </a:p>
          <a:p>
            <a:pPr marL="171450" indent="-171450" algn="ctr">
              <a:buFontTx/>
              <a:buChar char="-"/>
            </a:pPr>
            <a:r>
              <a:rPr lang="es-PE" sz="1200" dirty="0" err="1"/>
              <a:t>Lag</a:t>
            </a:r>
            <a:r>
              <a:rPr lang="es-PE" sz="1200" dirty="0"/>
              <a:t> 1 y 2 de TSM, Salinidad y Capa de mezcla.</a:t>
            </a:r>
          </a:p>
          <a:p>
            <a:pPr marL="171450" indent="-171450" algn="ctr">
              <a:buFontTx/>
              <a:buChar char="-"/>
            </a:pPr>
            <a:endParaRPr lang="es-PE" sz="1200" dirty="0"/>
          </a:p>
          <a:p>
            <a:pPr algn="ctr"/>
            <a:r>
              <a:rPr lang="es-PE" sz="1200" dirty="0"/>
              <a:t>- Mes (transformado trigonométricamente)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DDF24E8-F618-47D6-9EEF-0F56E6254D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41476" y="3469361"/>
            <a:ext cx="2877116" cy="110850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58C3E62-1743-4AED-B07E-35385FA33BBE}"/>
              </a:ext>
            </a:extLst>
          </p:cNvPr>
          <p:cNvCxnSpPr>
            <a:cxnSpLocks/>
          </p:cNvCxnSpPr>
          <p:nvPr/>
        </p:nvCxnSpPr>
        <p:spPr>
          <a:xfrm flipH="1" flipV="1">
            <a:off x="2419514" y="3276754"/>
            <a:ext cx="296747" cy="265469"/>
          </a:xfrm>
          <a:prstGeom prst="straightConnector1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  <a:tailEnd type="triangle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EE3EB347-A780-4AB8-A012-867C776E71DE}"/>
              </a:ext>
            </a:extLst>
          </p:cNvPr>
          <p:cNvCxnSpPr>
            <a:cxnSpLocks/>
          </p:cNvCxnSpPr>
          <p:nvPr/>
        </p:nvCxnSpPr>
        <p:spPr>
          <a:xfrm flipV="1">
            <a:off x="3452851" y="3220065"/>
            <a:ext cx="9329" cy="265659"/>
          </a:xfrm>
          <a:prstGeom prst="straightConnector1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  <a:tailEnd type="triangle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D3A86D9D-2022-4A0C-B134-9B84DF18730A}"/>
              </a:ext>
            </a:extLst>
          </p:cNvPr>
          <p:cNvCxnSpPr>
            <a:cxnSpLocks/>
          </p:cNvCxnSpPr>
          <p:nvPr/>
        </p:nvCxnSpPr>
        <p:spPr>
          <a:xfrm flipH="1" flipV="1">
            <a:off x="2048950" y="3851828"/>
            <a:ext cx="345744" cy="93230"/>
          </a:xfrm>
          <a:prstGeom prst="straightConnector1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  <a:tailEnd type="triangle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0BFF55A4-91E8-4D4D-92DE-8130F1D1432D}"/>
              </a:ext>
            </a:extLst>
          </p:cNvPr>
          <p:cNvCxnSpPr>
            <a:cxnSpLocks/>
          </p:cNvCxnSpPr>
          <p:nvPr/>
        </p:nvCxnSpPr>
        <p:spPr>
          <a:xfrm flipV="1">
            <a:off x="4428214" y="3509776"/>
            <a:ext cx="186861" cy="193255"/>
          </a:xfrm>
          <a:prstGeom prst="straightConnector1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  <a:tailEnd type="triangle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6CCC74F0-D278-447A-A406-9A12D7AB8D93}"/>
              </a:ext>
            </a:extLst>
          </p:cNvPr>
          <p:cNvCxnSpPr>
            <a:cxnSpLocks/>
          </p:cNvCxnSpPr>
          <p:nvPr/>
        </p:nvCxnSpPr>
        <p:spPr>
          <a:xfrm flipH="1">
            <a:off x="2394694" y="4554473"/>
            <a:ext cx="247750" cy="210198"/>
          </a:xfrm>
          <a:prstGeom prst="straightConnector1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  <a:tailEnd type="triangle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AAA67616-47EB-4766-8E01-237340714B30}"/>
              </a:ext>
            </a:extLst>
          </p:cNvPr>
          <p:cNvCxnSpPr>
            <a:cxnSpLocks/>
          </p:cNvCxnSpPr>
          <p:nvPr/>
        </p:nvCxnSpPr>
        <p:spPr>
          <a:xfrm>
            <a:off x="5098938" y="4044167"/>
            <a:ext cx="293347" cy="0"/>
          </a:xfrm>
          <a:prstGeom prst="straightConnector1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  <a:tailEnd type="triangle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D8299C0-3D33-4AC4-A9AB-188096250DCC}"/>
              </a:ext>
            </a:extLst>
          </p:cNvPr>
          <p:cNvCxnSpPr>
            <a:cxnSpLocks/>
          </p:cNvCxnSpPr>
          <p:nvPr/>
        </p:nvCxnSpPr>
        <p:spPr>
          <a:xfrm>
            <a:off x="4346896" y="4473908"/>
            <a:ext cx="349498" cy="303569"/>
          </a:xfrm>
          <a:prstGeom prst="straightConnector1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  <a:tailEnd type="triangle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13B4322A-3FC8-4211-9029-9972BF5EDE34}"/>
              </a:ext>
            </a:extLst>
          </p:cNvPr>
          <p:cNvSpPr/>
          <p:nvPr/>
        </p:nvSpPr>
        <p:spPr>
          <a:xfrm>
            <a:off x="6776152" y="4720143"/>
            <a:ext cx="1876801" cy="53034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/>
              <a:t>15 Variables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5D6E9121-BE14-41DD-AA33-071C2E7CFEFC}"/>
              </a:ext>
            </a:extLst>
          </p:cNvPr>
          <p:cNvSpPr txBox="1"/>
          <p:nvPr/>
        </p:nvSpPr>
        <p:spPr>
          <a:xfrm>
            <a:off x="214201" y="1443800"/>
            <a:ext cx="6834186" cy="385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Tx/>
              <a:buNone/>
              <a:tabLst/>
            </a:pPr>
            <a:r>
              <a:rPr lang="es-PE" altLang="es-PE" b="1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2. VARIABLES DEL MODELO</a:t>
            </a:r>
            <a:endParaRPr lang="es-PE" alt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7075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5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5"/>
          <p:cNvGrpSpPr/>
          <p:nvPr/>
        </p:nvGrpSpPr>
        <p:grpSpPr>
          <a:xfrm>
            <a:off x="4153" y="70024"/>
            <a:ext cx="9135692" cy="1126728"/>
            <a:chOff x="4153" y="0"/>
            <a:chExt cx="9135692" cy="1126728"/>
          </a:xfrm>
          <a:solidFill>
            <a:schemeClr val="accent2"/>
          </a:solidFill>
        </p:grpSpPr>
        <p:sp>
          <p:nvSpPr>
            <p:cNvPr id="224" name="Google Shape;224;p5"/>
            <p:cNvSpPr/>
            <p:nvPr/>
          </p:nvSpPr>
          <p:spPr>
            <a:xfrm>
              <a:off x="4153" y="133818"/>
              <a:ext cx="1649063" cy="859091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1457880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 txBox="1"/>
            <p:nvPr/>
          </p:nvSpPr>
          <p:spPr>
            <a:xfrm>
              <a:off x="1887426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2911606" y="0"/>
              <a:ext cx="3320786" cy="1126728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 txBox="1"/>
            <p:nvPr/>
          </p:nvSpPr>
          <p:spPr>
            <a:xfrm>
              <a:off x="3474970" y="0"/>
              <a:ext cx="2194058" cy="112672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80000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Metodología</a:t>
              </a:r>
              <a:endParaRPr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6037056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5"/>
            <p:cNvSpPr txBox="1"/>
            <p:nvPr/>
          </p:nvSpPr>
          <p:spPr>
            <a:xfrm>
              <a:off x="6466602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7490782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5"/>
            <p:cNvSpPr txBox="1"/>
            <p:nvPr/>
          </p:nvSpPr>
          <p:spPr>
            <a:xfrm>
              <a:off x="7920328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Rectángulo 1"/>
          <p:cNvSpPr/>
          <p:nvPr/>
        </p:nvSpPr>
        <p:spPr>
          <a:xfrm>
            <a:off x="217081" y="1420525"/>
            <a:ext cx="65157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altLang="es-PE" b="1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3. GENERACIÓN DE PSEUDOAUSENCIAS</a:t>
            </a:r>
            <a:endParaRPr lang="es-PE" altLang="es-PE" dirty="0">
              <a:latin typeface="Times New Roman" panose="02020603050405020304" pitchFamily="18" charset="0"/>
              <a:ea typeface="DengXian Light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4499BBB-B5E2-4EE4-BCA1-8475C2334B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 t="2072"/>
          <a:stretch/>
        </p:blipFill>
        <p:spPr>
          <a:xfrm>
            <a:off x="354299" y="1923676"/>
            <a:ext cx="3376302" cy="4266040"/>
          </a:xfrm>
          <a:prstGeom prst="rect">
            <a:avLst/>
          </a:prstGeom>
        </p:spPr>
      </p:pic>
      <p:sp>
        <p:nvSpPr>
          <p:cNvPr id="25" name="Text 11">
            <a:extLst>
              <a:ext uri="{FF2B5EF4-FFF2-40B4-BE49-F238E27FC236}">
                <a16:creationId xmlns:a16="http://schemas.microsoft.com/office/drawing/2014/main" id="{68A59355-D3F7-48E5-9249-C2E545348976}"/>
              </a:ext>
            </a:extLst>
          </p:cNvPr>
          <p:cNvSpPr/>
          <p:nvPr/>
        </p:nvSpPr>
        <p:spPr>
          <a:xfrm>
            <a:off x="3842362" y="1991735"/>
            <a:ext cx="3533798" cy="3619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Paso 1: Bounding Box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delimita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área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disponible con +/- 1.3°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alrededor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capturas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confirmadas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Paso 2. Buffer de exclusion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excluyen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166.5 km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alrededor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cada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presencia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real. 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Paso 3: </a:t>
            </a:r>
            <a:r>
              <a:rPr lang="en-US" sz="15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Estrategia</a:t>
            </a: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mixta</a:t>
            </a: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50%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pseudoausencias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costeras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mismas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coordenadas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meses sin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captura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50%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pseudoausencias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abierto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puntos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aleatorios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dentro del bounding box.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DF1C71B-C298-413D-9EC9-758A22BBD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856" y="5793829"/>
            <a:ext cx="5213172" cy="44400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57F1D5E-EFBC-49B0-8CE8-184E02D131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6173" y="4874594"/>
            <a:ext cx="247671" cy="26315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3853263-4B50-4735-823F-BFFB0F884A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2362" y="4417836"/>
            <a:ext cx="251482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633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5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5"/>
          <p:cNvGrpSpPr/>
          <p:nvPr/>
        </p:nvGrpSpPr>
        <p:grpSpPr>
          <a:xfrm>
            <a:off x="4153" y="70024"/>
            <a:ext cx="9135692" cy="1126728"/>
            <a:chOff x="4153" y="0"/>
            <a:chExt cx="9135692" cy="1126728"/>
          </a:xfrm>
          <a:solidFill>
            <a:schemeClr val="accent2"/>
          </a:solidFill>
        </p:grpSpPr>
        <p:sp>
          <p:nvSpPr>
            <p:cNvPr id="224" name="Google Shape;224;p5"/>
            <p:cNvSpPr/>
            <p:nvPr/>
          </p:nvSpPr>
          <p:spPr>
            <a:xfrm>
              <a:off x="4153" y="133818"/>
              <a:ext cx="1649063" cy="859091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1457880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 txBox="1"/>
            <p:nvPr/>
          </p:nvSpPr>
          <p:spPr>
            <a:xfrm>
              <a:off x="1887426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2911606" y="0"/>
              <a:ext cx="3320786" cy="1126728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 txBox="1"/>
            <p:nvPr/>
          </p:nvSpPr>
          <p:spPr>
            <a:xfrm>
              <a:off x="3474970" y="0"/>
              <a:ext cx="2194058" cy="112672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80000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Metodología</a:t>
              </a:r>
              <a:endParaRPr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6037056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5"/>
            <p:cNvSpPr txBox="1"/>
            <p:nvPr/>
          </p:nvSpPr>
          <p:spPr>
            <a:xfrm>
              <a:off x="6466602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7490782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5"/>
            <p:cNvSpPr txBox="1"/>
            <p:nvPr/>
          </p:nvSpPr>
          <p:spPr>
            <a:xfrm>
              <a:off x="7920328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Shape 7"/>
          <p:cNvSpPr/>
          <p:nvPr/>
        </p:nvSpPr>
        <p:spPr>
          <a:xfrm>
            <a:off x="591503" y="3823709"/>
            <a:ext cx="6336455" cy="1530611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7484" y="3916374"/>
            <a:ext cx="5821454" cy="13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altLang="es-PE" b="1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5. GENERACIÓN DE PREDICCIONES</a:t>
            </a:r>
            <a:endParaRPr lang="es-PE" altLang="es-PE" sz="1500" dirty="0">
              <a:solidFill>
                <a:srgbClr val="000000"/>
              </a:solidFill>
              <a:latin typeface="Times New Roman" panose="02020603050405020304" pitchFamily="18" charset="0"/>
              <a:ea typeface="Garamond" panose="02020404030301010803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PE" alt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Modelo aplicado sobre la grilla ambiental completa 2011–2023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PE" alt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Mapas promedio 2011-2014, 2015-2016, 2017-2019, 2020-2022</a:t>
            </a:r>
          </a:p>
          <a:p>
            <a:pPr marL="28575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PE" alt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Mapas mensuales de idoneidad</a:t>
            </a: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3584A4A7-43EF-4560-8B6A-6DC61064044C}"/>
              </a:ext>
            </a:extLst>
          </p:cNvPr>
          <p:cNvSpPr/>
          <p:nvPr/>
        </p:nvSpPr>
        <p:spPr>
          <a:xfrm>
            <a:off x="586256" y="1722201"/>
            <a:ext cx="6336456" cy="19252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E0187E28-A97F-4F08-9856-776748466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34" y="1898469"/>
            <a:ext cx="6226278" cy="16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altLang="es-PE" b="1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4. MODELADO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PE" altLang="es-PE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XGBClassifier</a:t>
            </a:r>
            <a:r>
              <a:rPr lang="es-PE" alt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con hiperparámetros optimizados (</a:t>
            </a:r>
            <a:r>
              <a:rPr lang="es-PE" altLang="es-PE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Optuna</a:t>
            </a:r>
            <a:r>
              <a:rPr lang="es-PE" alt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)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PE" alt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Probabilidades calibradas mediante regresión isotónica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PE" alt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Validación: ROC-AUC, PR-AUC, Precisión, </a:t>
            </a:r>
            <a:r>
              <a:rPr lang="es-PE" altLang="es-PE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Recall</a:t>
            </a:r>
            <a:endParaRPr lang="es-PE" altLang="es-PE" sz="1400" dirty="0">
              <a:solidFill>
                <a:srgbClr val="000000"/>
              </a:solidFill>
              <a:latin typeface="Times New Roman" panose="02020603050405020304" pitchFamily="18" charset="0"/>
              <a:ea typeface="Garamond" panose="02020404030301010803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PE" alt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Interpretabilidad de variables: valores SHAP</a:t>
            </a:r>
            <a:endParaRPr lang="es-PE" altLang="es-PE" sz="1400" b="1" dirty="0">
              <a:solidFill>
                <a:srgbClr val="000000"/>
              </a:solidFill>
              <a:latin typeface="Times New Roman" panose="02020603050405020304" pitchFamily="18" charset="0"/>
              <a:ea typeface="Garamond" panose="020204040303010108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44206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6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6"/>
          <p:cNvGrpSpPr/>
          <p:nvPr/>
        </p:nvGrpSpPr>
        <p:grpSpPr>
          <a:xfrm>
            <a:off x="4153" y="70024"/>
            <a:ext cx="9135692" cy="1126728"/>
            <a:chOff x="4153" y="0"/>
            <a:chExt cx="9135692" cy="1126728"/>
          </a:xfrm>
          <a:solidFill>
            <a:schemeClr val="accent2"/>
          </a:solidFill>
        </p:grpSpPr>
        <p:sp>
          <p:nvSpPr>
            <p:cNvPr id="241" name="Google Shape;241;p6"/>
            <p:cNvSpPr/>
            <p:nvPr/>
          </p:nvSpPr>
          <p:spPr>
            <a:xfrm>
              <a:off x="4153" y="133818"/>
              <a:ext cx="1649063" cy="859091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4153" y="133818"/>
              <a:ext cx="1434290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06675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457880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6"/>
            <p:cNvSpPr txBox="1"/>
            <p:nvPr/>
          </p:nvSpPr>
          <p:spPr>
            <a:xfrm>
              <a:off x="1887426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84000" tIns="122675" rIns="61325" bIns="122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2911606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6"/>
            <p:cNvSpPr txBox="1"/>
            <p:nvPr/>
          </p:nvSpPr>
          <p:spPr>
            <a:xfrm>
              <a:off x="3341152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4365333" y="0"/>
              <a:ext cx="3320786" cy="1126728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6"/>
            <p:cNvSpPr txBox="1"/>
            <p:nvPr/>
          </p:nvSpPr>
          <p:spPr>
            <a:xfrm>
              <a:off x="4928697" y="0"/>
              <a:ext cx="2194058" cy="112672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80000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Resultados</a:t>
              </a:r>
              <a:endPara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7490782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6"/>
            <p:cNvSpPr txBox="1"/>
            <p:nvPr/>
          </p:nvSpPr>
          <p:spPr>
            <a:xfrm>
              <a:off x="7920328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021C43F-3D6C-4EF4-BA50-6B0B9D5DD673}"/>
              </a:ext>
            </a:extLst>
          </p:cNvPr>
          <p:cNvSpPr txBox="1"/>
          <p:nvPr/>
        </p:nvSpPr>
        <p:spPr>
          <a:xfrm>
            <a:off x="362823" y="1360907"/>
            <a:ext cx="4629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altLang="es-PE" b="1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ANÁLISIS EXPLORATORIO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051F19E-2848-4727-B7D0-AB1830F3B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782" y="1730239"/>
            <a:ext cx="4803566" cy="207714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3E7088E-2244-4A26-B04A-2E8F5065B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0860" y="3807384"/>
            <a:ext cx="4835410" cy="2090916"/>
          </a:xfrm>
          <a:prstGeom prst="flowChartAlternateProcess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CC4FFD2E-93EB-4235-9310-20367F42E725}"/>
              </a:ext>
            </a:extLst>
          </p:cNvPr>
          <p:cNvSpPr txBox="1"/>
          <p:nvPr/>
        </p:nvSpPr>
        <p:spPr>
          <a:xfrm>
            <a:off x="828684" y="5905185"/>
            <a:ext cx="703656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PE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confirma la variabilidad temporal. Justifica rezagos L1 y L2 como predictores</a:t>
            </a:r>
            <a:endParaRPr lang="es-MX" sz="12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MX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Rango de autocorrelación ~1° (~111 km. Base para buffer de exclusión de 166.5 km.</a:t>
            </a:r>
          </a:p>
          <a:p>
            <a:pPr algn="just"/>
            <a:endParaRPr lang="es-PE" sz="1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6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6"/>
          <p:cNvGrpSpPr/>
          <p:nvPr/>
        </p:nvGrpSpPr>
        <p:grpSpPr>
          <a:xfrm>
            <a:off x="4153" y="70024"/>
            <a:ext cx="9135692" cy="1126728"/>
            <a:chOff x="4153" y="0"/>
            <a:chExt cx="9135692" cy="1126728"/>
          </a:xfrm>
          <a:solidFill>
            <a:schemeClr val="accent2"/>
          </a:solidFill>
        </p:grpSpPr>
        <p:sp>
          <p:nvSpPr>
            <p:cNvPr id="241" name="Google Shape;241;p6"/>
            <p:cNvSpPr/>
            <p:nvPr/>
          </p:nvSpPr>
          <p:spPr>
            <a:xfrm>
              <a:off x="4153" y="133818"/>
              <a:ext cx="1649063" cy="859091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4153" y="133818"/>
              <a:ext cx="1434290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06675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457880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6"/>
            <p:cNvSpPr txBox="1"/>
            <p:nvPr/>
          </p:nvSpPr>
          <p:spPr>
            <a:xfrm>
              <a:off x="1887426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84000" tIns="122675" rIns="61325" bIns="122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2911606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6"/>
            <p:cNvSpPr txBox="1"/>
            <p:nvPr/>
          </p:nvSpPr>
          <p:spPr>
            <a:xfrm>
              <a:off x="3341152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4365333" y="0"/>
              <a:ext cx="3320786" cy="1126728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6"/>
            <p:cNvSpPr txBox="1"/>
            <p:nvPr/>
          </p:nvSpPr>
          <p:spPr>
            <a:xfrm>
              <a:off x="4928697" y="0"/>
              <a:ext cx="2194058" cy="112672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80000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Resultados</a:t>
              </a:r>
              <a:endPara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7490782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6"/>
            <p:cNvSpPr txBox="1"/>
            <p:nvPr/>
          </p:nvSpPr>
          <p:spPr>
            <a:xfrm>
              <a:off x="7920328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20AD7CC-8115-4D5C-9A05-8DF604393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98" y="1945471"/>
            <a:ext cx="6624382" cy="3111695"/>
          </a:xfrm>
          <a:prstGeom prst="rect">
            <a:avLst/>
          </a:prstGeom>
          <a:ln w="3175">
            <a:noFill/>
          </a:ln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0AA7A92B-6EC9-46E5-A427-79DDCCF2ADD6}"/>
              </a:ext>
            </a:extLst>
          </p:cNvPr>
          <p:cNvSpPr txBox="1"/>
          <p:nvPr/>
        </p:nvSpPr>
        <p:spPr>
          <a:xfrm>
            <a:off x="444552" y="1483805"/>
            <a:ext cx="579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MAPA DE PSEUDOAUSENCIAS</a:t>
            </a:r>
            <a:endParaRPr lang="es-PE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C9CB4D6-C609-4E51-8FF4-140CBC381B03}"/>
              </a:ext>
            </a:extLst>
          </p:cNvPr>
          <p:cNvSpPr txBox="1"/>
          <p:nvPr/>
        </p:nvSpPr>
        <p:spPr>
          <a:xfrm>
            <a:off x="1090704" y="5057166"/>
            <a:ext cx="60320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Muestra final: 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2,992 presencias + 2,992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pseudoausencias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Total: 5,984 registros</a:t>
            </a:r>
          </a:p>
        </p:txBody>
      </p:sp>
    </p:spTree>
    <p:extLst>
      <p:ext uri="{BB962C8B-B14F-4D97-AF65-F5344CB8AC3E}">
        <p14:creationId xmlns:p14="http://schemas.microsoft.com/office/powerpoint/2010/main" val="294153890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7">
            <a:extLst>
              <a:ext uri="{FF2B5EF4-FFF2-40B4-BE49-F238E27FC236}">
                <a16:creationId xmlns:a16="http://schemas.microsoft.com/office/drawing/2014/main" id="{4E960564-76E6-4976-997D-408359A82D63}"/>
              </a:ext>
            </a:extLst>
          </p:cNvPr>
          <p:cNvSpPr/>
          <p:nvPr/>
        </p:nvSpPr>
        <p:spPr>
          <a:xfrm>
            <a:off x="510004" y="2628618"/>
            <a:ext cx="3244888" cy="2103499"/>
          </a:xfrm>
          <a:prstGeom prst="roundRect">
            <a:avLst>
              <a:gd name="adj" fmla="val 3519"/>
            </a:avLst>
          </a:prstGeom>
          <a:solidFill>
            <a:srgbClr val="FFFFFF"/>
          </a:solidFill>
          <a:ln w="19050">
            <a:solidFill>
              <a:srgbClr val="D5E2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39" name="Google Shape;239;p6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6"/>
          <p:cNvGrpSpPr/>
          <p:nvPr/>
        </p:nvGrpSpPr>
        <p:grpSpPr>
          <a:xfrm>
            <a:off x="4153" y="70024"/>
            <a:ext cx="9135692" cy="1126728"/>
            <a:chOff x="4153" y="0"/>
            <a:chExt cx="9135692" cy="1126728"/>
          </a:xfrm>
          <a:solidFill>
            <a:schemeClr val="accent2"/>
          </a:solidFill>
        </p:grpSpPr>
        <p:sp>
          <p:nvSpPr>
            <p:cNvPr id="241" name="Google Shape;241;p6"/>
            <p:cNvSpPr/>
            <p:nvPr/>
          </p:nvSpPr>
          <p:spPr>
            <a:xfrm>
              <a:off x="4153" y="133818"/>
              <a:ext cx="1649063" cy="859091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4153" y="133818"/>
              <a:ext cx="1434290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06675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457880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6"/>
            <p:cNvSpPr txBox="1"/>
            <p:nvPr/>
          </p:nvSpPr>
          <p:spPr>
            <a:xfrm>
              <a:off x="1887426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84000" tIns="122675" rIns="61325" bIns="122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2911606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6"/>
            <p:cNvSpPr txBox="1"/>
            <p:nvPr/>
          </p:nvSpPr>
          <p:spPr>
            <a:xfrm>
              <a:off x="3341152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4365333" y="0"/>
              <a:ext cx="3320786" cy="1126728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6"/>
            <p:cNvSpPr txBox="1"/>
            <p:nvPr/>
          </p:nvSpPr>
          <p:spPr>
            <a:xfrm>
              <a:off x="4928697" y="0"/>
              <a:ext cx="2194058" cy="112672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80000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Resultados</a:t>
              </a:r>
              <a:endPara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7490782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6"/>
            <p:cNvSpPr txBox="1"/>
            <p:nvPr/>
          </p:nvSpPr>
          <p:spPr>
            <a:xfrm>
              <a:off x="7920328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D042A264-F38D-4123-B611-B5ACAE44C9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biLevel thresh="25000"/>
          </a:blip>
          <a:srcRect t="3335"/>
          <a:stretch/>
        </p:blipFill>
        <p:spPr>
          <a:xfrm>
            <a:off x="4365333" y="2759830"/>
            <a:ext cx="3062862" cy="41366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985A779-8261-483F-B032-E7DD6891D76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biLevel thresh="75000"/>
          </a:blip>
          <a:srcRect t="287"/>
          <a:stretch/>
        </p:blipFill>
        <p:spPr>
          <a:xfrm>
            <a:off x="4365333" y="3148779"/>
            <a:ext cx="3062860" cy="123879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58CDE07A-1764-4F7F-AE85-A0CE26002ABF}"/>
              </a:ext>
            </a:extLst>
          </p:cNvPr>
          <p:cNvSpPr txBox="1"/>
          <p:nvPr/>
        </p:nvSpPr>
        <p:spPr>
          <a:xfrm>
            <a:off x="596453" y="2759830"/>
            <a:ext cx="312273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variables predictoras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VIF &lt; 10 en todas (sin multicolinealidad severa)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Latitud y longitud excluidas deliberadamente para evitar separación geográfica trivial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División temporal de muestras Train y Test</a:t>
            </a:r>
            <a:endParaRPr lang="es-PE" sz="1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CF2548B7-BB37-4F43-8E9D-DCD3DA75C7E2}"/>
              </a:ext>
            </a:extLst>
          </p:cNvPr>
          <p:cNvSpPr/>
          <p:nvPr/>
        </p:nvSpPr>
        <p:spPr>
          <a:xfrm>
            <a:off x="3875610" y="3346941"/>
            <a:ext cx="376230" cy="436339"/>
          </a:xfrm>
          <a:prstGeom prst="rightArrow">
            <a:avLst/>
          </a:prstGeom>
          <a:ln>
            <a:solidFill>
              <a:schemeClr val="accent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0" name="Gráfico 9" descr="Engranajes con relleno sólido">
            <a:extLst>
              <a:ext uri="{FF2B5EF4-FFF2-40B4-BE49-F238E27FC236}">
                <a16:creationId xmlns:a16="http://schemas.microsoft.com/office/drawing/2014/main" id="{206A5FE1-B00A-4F8F-A8A7-AA025C5744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11284" y="2499271"/>
            <a:ext cx="907721" cy="821400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81C6502B-FC15-4184-9394-D505E49EA3F6}"/>
              </a:ext>
            </a:extLst>
          </p:cNvPr>
          <p:cNvSpPr txBox="1"/>
          <p:nvPr/>
        </p:nvSpPr>
        <p:spPr>
          <a:xfrm>
            <a:off x="362823" y="1879667"/>
            <a:ext cx="4629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altLang="es-PE" b="1" dirty="0">
                <a:solidFill>
                  <a:srgbClr val="000000"/>
                </a:solidFill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MODELAMIENTO</a:t>
            </a:r>
          </a:p>
        </p:txBody>
      </p:sp>
    </p:spTree>
    <p:extLst>
      <p:ext uri="{BB962C8B-B14F-4D97-AF65-F5344CB8AC3E}">
        <p14:creationId xmlns:p14="http://schemas.microsoft.com/office/powerpoint/2010/main" val="147247054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6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6"/>
          <p:cNvGrpSpPr/>
          <p:nvPr/>
        </p:nvGrpSpPr>
        <p:grpSpPr>
          <a:xfrm>
            <a:off x="4153" y="70024"/>
            <a:ext cx="9135692" cy="1126728"/>
            <a:chOff x="4153" y="0"/>
            <a:chExt cx="9135692" cy="1126728"/>
          </a:xfrm>
          <a:solidFill>
            <a:schemeClr val="accent2"/>
          </a:solidFill>
        </p:grpSpPr>
        <p:sp>
          <p:nvSpPr>
            <p:cNvPr id="241" name="Google Shape;241;p6"/>
            <p:cNvSpPr/>
            <p:nvPr/>
          </p:nvSpPr>
          <p:spPr>
            <a:xfrm>
              <a:off x="4153" y="133818"/>
              <a:ext cx="1649063" cy="859091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4153" y="133818"/>
              <a:ext cx="1434290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06675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457880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6"/>
            <p:cNvSpPr txBox="1"/>
            <p:nvPr/>
          </p:nvSpPr>
          <p:spPr>
            <a:xfrm>
              <a:off x="1887426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84000" tIns="122675" rIns="61325" bIns="122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2911606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6"/>
            <p:cNvSpPr txBox="1"/>
            <p:nvPr/>
          </p:nvSpPr>
          <p:spPr>
            <a:xfrm>
              <a:off x="3341152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4365333" y="0"/>
              <a:ext cx="3320786" cy="1126728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6"/>
            <p:cNvSpPr txBox="1"/>
            <p:nvPr/>
          </p:nvSpPr>
          <p:spPr>
            <a:xfrm>
              <a:off x="4928697" y="0"/>
              <a:ext cx="2194058" cy="112672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80000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Resultados</a:t>
              </a:r>
              <a:endPara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7490782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6"/>
            <p:cNvSpPr txBox="1"/>
            <p:nvPr/>
          </p:nvSpPr>
          <p:spPr>
            <a:xfrm>
              <a:off x="7920328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AA7A92B-6EC9-46E5-A427-79DDCCF2ADD6}"/>
              </a:ext>
            </a:extLst>
          </p:cNvPr>
          <p:cNvSpPr txBox="1"/>
          <p:nvPr/>
        </p:nvSpPr>
        <p:spPr>
          <a:xfrm>
            <a:off x="334228" y="1394775"/>
            <a:ext cx="4686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INTERPRETABILIDAD DE VARIABLES</a:t>
            </a:r>
            <a:endParaRPr lang="es-PE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948EC3-680A-49DA-A4E2-7CC0B04C85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023"/>
          <a:stretch/>
        </p:blipFill>
        <p:spPr>
          <a:xfrm>
            <a:off x="1574800" y="1764107"/>
            <a:ext cx="4932097" cy="441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5195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6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6"/>
          <p:cNvGrpSpPr/>
          <p:nvPr/>
        </p:nvGrpSpPr>
        <p:grpSpPr>
          <a:xfrm>
            <a:off x="4153" y="70024"/>
            <a:ext cx="9135692" cy="1126728"/>
            <a:chOff x="4153" y="0"/>
            <a:chExt cx="9135692" cy="1126728"/>
          </a:xfrm>
          <a:solidFill>
            <a:schemeClr val="accent2"/>
          </a:solidFill>
        </p:grpSpPr>
        <p:sp>
          <p:nvSpPr>
            <p:cNvPr id="241" name="Google Shape;241;p6"/>
            <p:cNvSpPr/>
            <p:nvPr/>
          </p:nvSpPr>
          <p:spPr>
            <a:xfrm>
              <a:off x="4153" y="133818"/>
              <a:ext cx="1649063" cy="859091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4153" y="133818"/>
              <a:ext cx="1434290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06675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457880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6"/>
            <p:cNvSpPr txBox="1"/>
            <p:nvPr/>
          </p:nvSpPr>
          <p:spPr>
            <a:xfrm>
              <a:off x="1887426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84000" tIns="122675" rIns="61325" bIns="122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2911606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6"/>
            <p:cNvSpPr txBox="1"/>
            <p:nvPr/>
          </p:nvSpPr>
          <p:spPr>
            <a:xfrm>
              <a:off x="3341152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4365333" y="0"/>
              <a:ext cx="3320786" cy="1126728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6"/>
            <p:cNvSpPr txBox="1"/>
            <p:nvPr/>
          </p:nvSpPr>
          <p:spPr>
            <a:xfrm>
              <a:off x="4928697" y="0"/>
              <a:ext cx="2194058" cy="112672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80000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Resultados</a:t>
              </a:r>
              <a:endPara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7490782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6"/>
            <p:cNvSpPr txBox="1"/>
            <p:nvPr/>
          </p:nvSpPr>
          <p:spPr>
            <a:xfrm>
              <a:off x="7920328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AA7A92B-6EC9-46E5-A427-79DDCCF2ADD6}"/>
              </a:ext>
            </a:extLst>
          </p:cNvPr>
          <p:cNvSpPr txBox="1"/>
          <p:nvPr/>
        </p:nvSpPr>
        <p:spPr>
          <a:xfrm>
            <a:off x="348178" y="1317500"/>
            <a:ext cx="4678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PREDICCIÓN: MAPAS DE IDONEIDAD</a:t>
            </a:r>
            <a:endParaRPr lang="es-PE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55339E-3064-4602-9119-0AB7FD1FC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951" y="1611710"/>
            <a:ext cx="4678763" cy="462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0005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6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6"/>
          <p:cNvGrpSpPr/>
          <p:nvPr/>
        </p:nvGrpSpPr>
        <p:grpSpPr>
          <a:xfrm>
            <a:off x="4153" y="70024"/>
            <a:ext cx="9135692" cy="1126728"/>
            <a:chOff x="4153" y="0"/>
            <a:chExt cx="9135692" cy="1126728"/>
          </a:xfrm>
          <a:solidFill>
            <a:schemeClr val="accent2"/>
          </a:solidFill>
        </p:grpSpPr>
        <p:sp>
          <p:nvSpPr>
            <p:cNvPr id="241" name="Google Shape;241;p6"/>
            <p:cNvSpPr/>
            <p:nvPr/>
          </p:nvSpPr>
          <p:spPr>
            <a:xfrm>
              <a:off x="4153" y="133818"/>
              <a:ext cx="1649063" cy="859091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4153" y="133818"/>
              <a:ext cx="1434290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06675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457880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6"/>
            <p:cNvSpPr txBox="1"/>
            <p:nvPr/>
          </p:nvSpPr>
          <p:spPr>
            <a:xfrm>
              <a:off x="1887426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84000" tIns="122675" rIns="61325" bIns="122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2911606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6"/>
            <p:cNvSpPr txBox="1"/>
            <p:nvPr/>
          </p:nvSpPr>
          <p:spPr>
            <a:xfrm>
              <a:off x="3341152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4365333" y="0"/>
              <a:ext cx="3320786" cy="1126728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6"/>
            <p:cNvSpPr txBox="1"/>
            <p:nvPr/>
          </p:nvSpPr>
          <p:spPr>
            <a:xfrm>
              <a:off x="4928697" y="0"/>
              <a:ext cx="2194058" cy="112672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80000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Resultados</a:t>
              </a:r>
              <a:endPara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7490782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6"/>
            <p:cNvSpPr txBox="1"/>
            <p:nvPr/>
          </p:nvSpPr>
          <p:spPr>
            <a:xfrm>
              <a:off x="7920328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AA7A92B-6EC9-46E5-A427-79DDCCF2ADD6}"/>
              </a:ext>
            </a:extLst>
          </p:cNvPr>
          <p:cNvSpPr txBox="1"/>
          <p:nvPr/>
        </p:nvSpPr>
        <p:spPr>
          <a:xfrm>
            <a:off x="312380" y="1307262"/>
            <a:ext cx="6545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PRODUCTO FINAL: MAPA MENSUAL DE IDONEIDAD</a:t>
            </a:r>
            <a:endParaRPr lang="es-PE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324B118-63A8-449A-9E53-C08CB1E37C3A}"/>
              </a:ext>
            </a:extLst>
          </p:cNvPr>
          <p:cNvSpPr txBox="1"/>
          <p:nvPr/>
        </p:nvSpPr>
        <p:spPr>
          <a:xfrm>
            <a:off x="463327" y="5316307"/>
            <a:ext cx="6545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modelo es capaz de generar la predicción para cada mes del período 2011–2023, permitiendo monitoreo continuo y extensión a periodos posteriores.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A92963-6633-41D3-9007-9A1C107EC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2376" y="1730510"/>
            <a:ext cx="3029176" cy="349061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1220722-8287-406A-A6F3-BAB0E6889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553" y="1766170"/>
            <a:ext cx="948128" cy="349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49661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" r="14859" b="1"/>
          <a:stretch/>
        </p:blipFill>
        <p:spPr>
          <a:xfrm>
            <a:off x="13873" y="1240256"/>
            <a:ext cx="6960133" cy="5212932"/>
          </a:xfrm>
          <a:prstGeom prst="rect">
            <a:avLst/>
          </a:prstGeom>
        </p:spPr>
      </p:pic>
      <p:pic>
        <p:nvPicPr>
          <p:cNvPr id="256" name="Google Shape;256;p7"/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rcRect l="50498" t="20451" r="41743" b="73666"/>
          <a:stretch/>
        </p:blipFill>
        <p:spPr>
          <a:xfrm>
            <a:off x="0" y="6453188"/>
            <a:ext cx="9144000" cy="404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p7"/>
          <p:cNvGrpSpPr/>
          <p:nvPr/>
        </p:nvGrpSpPr>
        <p:grpSpPr>
          <a:xfrm>
            <a:off x="4153" y="70024"/>
            <a:ext cx="9135693" cy="1126728"/>
            <a:chOff x="4153" y="0"/>
            <a:chExt cx="9135693" cy="1126728"/>
          </a:xfrm>
          <a:solidFill>
            <a:schemeClr val="accent2"/>
          </a:solidFill>
        </p:grpSpPr>
        <p:sp>
          <p:nvSpPr>
            <p:cNvPr id="258" name="Google Shape;258;p7"/>
            <p:cNvSpPr/>
            <p:nvPr/>
          </p:nvSpPr>
          <p:spPr>
            <a:xfrm>
              <a:off x="4153" y="133818"/>
              <a:ext cx="1649063" cy="859091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7"/>
            <p:cNvSpPr txBox="1"/>
            <p:nvPr/>
          </p:nvSpPr>
          <p:spPr>
            <a:xfrm>
              <a:off x="4153" y="133818"/>
              <a:ext cx="1434290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06675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1457880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 txBox="1"/>
            <p:nvPr/>
          </p:nvSpPr>
          <p:spPr>
            <a:xfrm>
              <a:off x="1887426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84000" tIns="122675" rIns="61325" bIns="122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2911606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7"/>
            <p:cNvSpPr txBox="1"/>
            <p:nvPr/>
          </p:nvSpPr>
          <p:spPr>
            <a:xfrm>
              <a:off x="3341152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4365333" y="133818"/>
              <a:ext cx="1649063" cy="859091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7"/>
            <p:cNvSpPr txBox="1"/>
            <p:nvPr/>
          </p:nvSpPr>
          <p:spPr>
            <a:xfrm>
              <a:off x="4794879" y="133818"/>
              <a:ext cx="789972" cy="8590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4000" tIns="29325" rIns="14650" bIns="29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5819060" y="0"/>
              <a:ext cx="3320786" cy="1126728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50800" dist="381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7"/>
            <p:cNvSpPr txBox="1"/>
            <p:nvPr/>
          </p:nvSpPr>
          <p:spPr>
            <a:xfrm>
              <a:off x="6382424" y="0"/>
              <a:ext cx="2194058" cy="112672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80000" tIns="53325" rIns="26650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Conclusiones</a:t>
              </a:r>
              <a:endPara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AutoShape 4" descr="Barcos pesqueros en alta ma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4" name="Rectángulo 3"/>
          <p:cNvSpPr/>
          <p:nvPr/>
        </p:nvSpPr>
        <p:spPr>
          <a:xfrm>
            <a:off x="4522282" y="1569628"/>
            <a:ext cx="2465597" cy="90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ángulo 18"/>
          <p:cNvSpPr/>
          <p:nvPr/>
        </p:nvSpPr>
        <p:spPr>
          <a:xfrm>
            <a:off x="4522282" y="2799751"/>
            <a:ext cx="2615497" cy="8388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PE" b="1" dirty="0"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hábitat favorable en condiciones neutras o La Niña, sugiriendo zonas de potencial pesquero no exploradas.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4558353" y="3915909"/>
            <a:ext cx="2746214" cy="90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20"/>
          <p:cNvSpPr/>
          <p:nvPr/>
        </p:nvSpPr>
        <p:spPr>
          <a:xfrm>
            <a:off x="4512825" y="5220011"/>
            <a:ext cx="2475054" cy="90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/>
          <p:cNvSpPr/>
          <p:nvPr/>
        </p:nvSpPr>
        <p:spPr>
          <a:xfrm>
            <a:off x="4522281" y="1524956"/>
            <a:ext cx="261549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sz="1300" dirty="0"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El modelo </a:t>
            </a:r>
            <a:r>
              <a:rPr lang="es-PE" sz="1300" dirty="0" err="1"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XGBoost</a:t>
            </a:r>
            <a:r>
              <a:rPr lang="es-PE" sz="1300" dirty="0"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alcanzó un PR-AUC de 0.77. Las variables oceanográficas por sí solas son suficientes para predecir la distribución del jurel. </a:t>
            </a:r>
          </a:p>
        </p:txBody>
      </p:sp>
      <p:sp>
        <p:nvSpPr>
          <p:cNvPr id="23" name="Rectángulo 22"/>
          <p:cNvSpPr/>
          <p:nvPr/>
        </p:nvSpPr>
        <p:spPr>
          <a:xfrm>
            <a:off x="4522281" y="5065952"/>
            <a:ext cx="2451725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sz="1300" dirty="0"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El hábitat favorable se extiende hacia el océano abierto y el sur en condiciones neutras o La Niña, sugiriendo zonas de potencial pesquero subrepresentadas. 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4529351" y="3875144"/>
            <a:ext cx="2970089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sz="1300" dirty="0"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El índice ONI fue la variable más influyente (SHAP), aunque la temperatura superficial captura eventos costeros como el Niño Costero 2017, siendo ambas variables complementarias.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A6FFE4A-BE25-4B5F-9BBD-12E176AC74F6}"/>
              </a:ext>
            </a:extLst>
          </p:cNvPr>
          <p:cNvSpPr/>
          <p:nvPr/>
        </p:nvSpPr>
        <p:spPr>
          <a:xfrm>
            <a:off x="4512825" y="2700050"/>
            <a:ext cx="2602189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sz="1300" dirty="0"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La estrategia de pseudoausencias 1:1 con buffer espacial fue clave para el desempeño del modelo y constituye un aporte metodológico replicable.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ceta">
  <a:themeElements>
    <a:clrScheme name="Personalizado 4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98F98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DDF0F2"/>
      </a:hlink>
      <a:folHlink>
        <a:srgbClr val="398F98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</TotalTime>
  <Words>740</Words>
  <Application>Microsoft Office PowerPoint</Application>
  <PresentationFormat>Presentación en pantalla (4:3)</PresentationFormat>
  <Paragraphs>119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4" baseType="lpstr">
      <vt:lpstr>Arial Narrow</vt:lpstr>
      <vt:lpstr>Times New Roman</vt:lpstr>
      <vt:lpstr>Arial</vt:lpstr>
      <vt:lpstr>Trebuchet MS</vt:lpstr>
      <vt:lpstr>Calibri</vt:lpstr>
      <vt:lpstr>Wingdings</vt:lpstr>
      <vt:lpstr>Sitka Banner</vt:lpstr>
      <vt:lpstr>Wingdings 3</vt:lpstr>
      <vt:lpstr>Faceta</vt:lpstr>
      <vt:lpstr>           MODELAMIENTO DE LA DISTRIBUCIÓN ESPACIO-TEMPORAL DEL JUREL (TRACHURUS MURPHYI) EN EL MAR PERUANO MEDIANTE CLASIFICACIÓN XGBOOST Y PSEUDOAUSENCIAS ESTRUCTURADAS, 2011–2023  </vt:lpstr>
      <vt:lpstr>CONTENIDO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(ejemplo) APLICACIÓN DE MODELOS ECONOMÉTRICOS EN EL SECTOR EDUCATIVO</dc:title>
  <dc:creator>Marcial Ruiz</dc:creator>
  <cp:lastModifiedBy>Ricardo Guanilo</cp:lastModifiedBy>
  <cp:revision>67</cp:revision>
  <dcterms:created xsi:type="dcterms:W3CDTF">2011-06-04T14:20:28Z</dcterms:created>
  <dcterms:modified xsi:type="dcterms:W3CDTF">2026-07-17T21:54:55Z</dcterms:modified>
</cp:coreProperties>
</file>